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0" d="100"/>
          <a:sy n="60" d="100"/>
        </p:scale>
        <p:origin x="114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7ABD5-3956-4899-AB44-81D7816475C9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4EFD22B8-94B9-48D3-AFAC-987ABFBAB8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7293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7ABD5-3956-4899-AB44-81D7816475C9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D22B8-94B9-48D3-AFAC-987ABFBAB8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5002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7ABD5-3956-4899-AB44-81D7816475C9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EFD22B8-94B9-48D3-AFAC-987ABFBAB8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5660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7ABD5-3956-4899-AB44-81D7816475C9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EFD22B8-94B9-48D3-AFAC-987ABFBAB8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8533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7ABD5-3956-4899-AB44-81D7816475C9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EFD22B8-94B9-48D3-AFAC-987ABFBAB8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6703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7ABD5-3956-4899-AB44-81D7816475C9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D22B8-94B9-48D3-AFAC-987ABFBAB8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577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7ABD5-3956-4899-AB44-81D7816475C9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D22B8-94B9-48D3-AFAC-987ABFBAB8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7957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7ABD5-3956-4899-AB44-81D7816475C9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D22B8-94B9-48D3-AFAC-987ABFBAB8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7481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7ABD5-3956-4899-AB44-81D7816475C9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EFD22B8-94B9-48D3-AFAC-987ABFBAB8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1811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7ABD5-3956-4899-AB44-81D7816475C9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EFD22B8-94B9-48D3-AFAC-987ABFBAB8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662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7ABD5-3956-4899-AB44-81D7816475C9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EFD22B8-94B9-48D3-AFAC-987ABFBAB8DF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441049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7ABD5-3956-4899-AB44-81D7816475C9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EFD22B8-94B9-48D3-AFAC-987ABFBAB8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86766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7ABD5-3956-4899-AB44-81D7816475C9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EFD22B8-94B9-48D3-AFAC-987ABFBAB8DF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93225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7ABD5-3956-4899-AB44-81D7816475C9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EFD22B8-94B9-48D3-AFAC-987ABFBAB8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45143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7ABD5-3956-4899-AB44-81D7816475C9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D22B8-94B9-48D3-AFAC-987ABFBAB8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4607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7ABD5-3956-4899-AB44-81D7816475C9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D22B8-94B9-48D3-AFAC-987ABFBAB8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303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67ABD5-3956-4899-AB44-81D7816475C9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4EFD22B8-94B9-48D3-AFAC-987ABFBAB8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958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F515F-5924-8515-0F3C-3FA7E4660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4611" y="802106"/>
            <a:ext cx="10510001" cy="1636294"/>
          </a:xfrm>
        </p:spPr>
        <p:txBody>
          <a:bodyPr>
            <a:normAutofit fontScale="90000"/>
          </a:bodyPr>
          <a:lstStyle/>
          <a:p>
            <a:r>
              <a:rPr lang="en-US" dirty="0"/>
              <a:t>Feature Extraction and Price Prediction for Mobile Phones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214C1A-AE6B-0387-C4ED-371784D5C0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53137" y="3429001"/>
            <a:ext cx="3451475" cy="2474662"/>
          </a:xfrm>
        </p:spPr>
        <p:txBody>
          <a:bodyPr>
            <a:normAutofit/>
          </a:bodyPr>
          <a:lstStyle/>
          <a:p>
            <a:r>
              <a:rPr lang="en-US" b="1" dirty="0"/>
              <a:t>Submitted By:</a:t>
            </a:r>
            <a:endParaRPr lang="en-US" dirty="0"/>
          </a:p>
          <a:p>
            <a:r>
              <a:rPr lang="en-US" dirty="0"/>
              <a:t>Name: Satish Vonteddu </a:t>
            </a:r>
          </a:p>
          <a:p>
            <a:r>
              <a:rPr lang="en-US" dirty="0"/>
              <a:t>Data Analytics Internship </a:t>
            </a:r>
          </a:p>
          <a:p>
            <a:r>
              <a:rPr lang="en-US" dirty="0" err="1"/>
              <a:t>NextHikes</a:t>
            </a:r>
            <a:r>
              <a:rPr lang="en-US" dirty="0"/>
              <a:t> IT Solutions</a:t>
            </a:r>
          </a:p>
          <a:p>
            <a:r>
              <a:rPr lang="en-US" dirty="0"/>
              <a:t>L-110226-W2PM-B15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92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418F7-FED4-18C4-CFD8-005661827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263" y="624110"/>
            <a:ext cx="11023349" cy="2616395"/>
          </a:xfrm>
        </p:spPr>
        <p:txBody>
          <a:bodyPr>
            <a:normAutofit/>
          </a:bodyPr>
          <a:lstStyle/>
          <a:p>
            <a:r>
              <a:rPr lang="en-US" b="1" u="sng" dirty="0"/>
              <a:t>Project Objective:</a:t>
            </a:r>
            <a:br>
              <a:rPr lang="en-US" dirty="0"/>
            </a:br>
            <a:r>
              <a:rPr lang="en-US" sz="2700" dirty="0"/>
              <a:t>To identify the key features affecting mobile phone prices and build a machine learning model that accurately predicts mobile phone prices.</a:t>
            </a:r>
            <a:endParaRPr lang="en-IN" sz="27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8CDF0-53EA-802C-55A7-346899852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388" y="2775284"/>
            <a:ext cx="10817224" cy="3135938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Business Problem</a:t>
            </a:r>
          </a:p>
          <a:p>
            <a:pPr marL="0" indent="0">
              <a:buNone/>
            </a:pPr>
            <a:r>
              <a:rPr lang="en-US" dirty="0"/>
              <a:t>The mobile phone market is highly competitive, and pricing decisions depend on multiple specifications such as:</a:t>
            </a:r>
          </a:p>
          <a:p>
            <a:r>
              <a:rPr lang="en-US" dirty="0"/>
              <a:t>RAM </a:t>
            </a:r>
          </a:p>
          <a:p>
            <a:r>
              <a:rPr lang="en-US" dirty="0"/>
              <a:t>Memory </a:t>
            </a:r>
          </a:p>
          <a:p>
            <a:r>
              <a:rPr lang="en-US" dirty="0"/>
              <a:t>Processor </a:t>
            </a:r>
          </a:p>
          <a:p>
            <a:r>
              <a:rPr lang="en-US" dirty="0"/>
              <a:t>Camera </a:t>
            </a:r>
          </a:p>
          <a:p>
            <a:r>
              <a:rPr lang="en-US" dirty="0"/>
              <a:t>Battery </a:t>
            </a:r>
          </a:p>
          <a:p>
            <a:r>
              <a:rPr lang="en-US" dirty="0"/>
              <a:t>The organization wants to:</a:t>
            </a:r>
          </a:p>
          <a:p>
            <a:pPr marL="0" indent="0">
              <a:buNone/>
            </a:pPr>
            <a:r>
              <a:rPr lang="en-US" dirty="0"/>
              <a:t>✅ Understand which features affect mobile prices.</a:t>
            </a:r>
          </a:p>
          <a:p>
            <a:pPr marL="0" indent="0">
              <a:buNone/>
            </a:pPr>
            <a:r>
              <a:rPr lang="en-US" dirty="0"/>
              <a:t>✅ Predict the price of new mobile phones accurate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8714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6247E-CCDD-5202-7605-C6D862EB9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Project Objectives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C2149-EADC-F8DB-0855-FA227A884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Perform Feature Extraction. </a:t>
            </a:r>
          </a:p>
          <a:p>
            <a:r>
              <a:rPr lang="en-US" dirty="0"/>
              <a:t>Identify important features affecting price. </a:t>
            </a:r>
          </a:p>
          <a:p>
            <a:r>
              <a:rPr lang="en-US" dirty="0"/>
              <a:t>Build predictive machine learning models. </a:t>
            </a:r>
          </a:p>
          <a:p>
            <a:r>
              <a:rPr lang="en-US" dirty="0"/>
              <a:t>Compare different algorithms. </a:t>
            </a:r>
          </a:p>
          <a:p>
            <a:r>
              <a:rPr lang="en-US" dirty="0"/>
              <a:t>Recommend the best pricing strategy.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5873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3389D-739B-1DDF-4A21-554C6B7F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264" y="190974"/>
            <a:ext cx="10862928" cy="59509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Dataset Description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506B3D5-E122-D59B-C799-7D9B774250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6612260"/>
              </p:ext>
            </p:extLst>
          </p:nvPr>
        </p:nvGraphicFramePr>
        <p:xfrm>
          <a:off x="700881" y="1251243"/>
          <a:ext cx="8915400" cy="1828800"/>
        </p:xfrm>
        <a:graphic>
          <a:graphicData uri="http://schemas.openxmlformats.org/drawingml/2006/table">
            <a:tbl>
              <a:tblPr/>
              <a:tblGrid>
                <a:gridCol w="3341730">
                  <a:extLst>
                    <a:ext uri="{9D8B030D-6E8A-4147-A177-3AD203B41FA5}">
                      <a16:colId xmlns:a16="http://schemas.microsoft.com/office/drawing/2014/main" val="2716680185"/>
                    </a:ext>
                  </a:extLst>
                </a:gridCol>
                <a:gridCol w="5573670">
                  <a:extLst>
                    <a:ext uri="{9D8B030D-6E8A-4147-A177-3AD203B41FA5}">
                      <a16:colId xmlns:a16="http://schemas.microsoft.com/office/drawing/2014/main" val="36671422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u="sng"/>
                        <a:t>Particular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u="sng" dirty="0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433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Total Records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541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022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After Removing Duplicates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531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91695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Total Features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6734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Target Variable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43864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76CDAE7-3A6D-70E9-5680-591478412979}"/>
              </a:ext>
            </a:extLst>
          </p:cNvPr>
          <p:cNvSpPr txBox="1"/>
          <p:nvPr/>
        </p:nvSpPr>
        <p:spPr>
          <a:xfrm>
            <a:off x="7539790" y="1251243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u="sng" dirty="0"/>
              <a:t>Features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Colour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Memory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RAM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Battery Capacity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Rear Camera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Front Camera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AI Lens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Mobile Height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Processor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Price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AF7CAB-12A7-569E-035C-94BD072BFA5E}"/>
              </a:ext>
            </a:extLst>
          </p:cNvPr>
          <p:cNvSpPr txBox="1"/>
          <p:nvPr/>
        </p:nvSpPr>
        <p:spPr>
          <a:xfrm>
            <a:off x="842210" y="3621422"/>
            <a:ext cx="68178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u="sng" dirty="0"/>
              <a:t>Categorical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Model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Colour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Processor</a:t>
            </a:r>
          </a:p>
        </p:txBody>
      </p:sp>
    </p:spTree>
    <p:extLst>
      <p:ext uri="{BB962C8B-B14F-4D97-AF65-F5344CB8AC3E}">
        <p14:creationId xmlns:p14="http://schemas.microsoft.com/office/powerpoint/2010/main" val="1693922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E4B01-CEE5-49F7-782C-C301C8387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3810" y="142847"/>
            <a:ext cx="11280023" cy="803931"/>
          </a:xfrm>
        </p:spPr>
        <p:txBody>
          <a:bodyPr/>
          <a:lstStyle/>
          <a:p>
            <a:r>
              <a:rPr lang="en-IN" b="1" u="sng" dirty="0"/>
              <a:t>Data Cleaning &amp;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D2C68-F157-E69A-BCC5-C94995FE4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946778"/>
            <a:ext cx="10590212" cy="4964444"/>
          </a:xfrm>
        </p:spPr>
        <p:txBody>
          <a:bodyPr>
            <a:normAutofit/>
          </a:bodyPr>
          <a:lstStyle/>
          <a:p>
            <a:r>
              <a:rPr lang="en-IN" dirty="0"/>
              <a:t>Data Cleaning Steps  : </a:t>
            </a:r>
          </a:p>
          <a:p>
            <a:r>
              <a:rPr lang="en-IN" dirty="0"/>
              <a:t>Removed unnecessary column </a:t>
            </a:r>
          </a:p>
          <a:p>
            <a:r>
              <a:rPr lang="en-IN" dirty="0"/>
              <a:t>Removed duplicate rows.</a:t>
            </a:r>
          </a:p>
          <a:p>
            <a:r>
              <a:rPr lang="en-IN" dirty="0"/>
              <a:t>Converted camera columns</a:t>
            </a:r>
          </a:p>
          <a:p>
            <a:r>
              <a:rPr lang="en-US" dirty="0"/>
              <a:t>No missing values were found.</a:t>
            </a:r>
          </a:p>
          <a:p>
            <a:pPr marL="0" indent="0">
              <a:buNone/>
            </a:pPr>
            <a:r>
              <a:rPr lang="en-US" b="1" dirty="0"/>
              <a:t>Encoding : </a:t>
            </a:r>
            <a:r>
              <a:rPr lang="en-US" dirty="0"/>
              <a:t>Applied</a:t>
            </a:r>
          </a:p>
          <a:p>
            <a:r>
              <a:rPr lang="en-US" b="1" dirty="0"/>
              <a:t>One Hot Encoding </a:t>
            </a:r>
            <a:r>
              <a:rPr lang="en-US" dirty="0"/>
              <a:t>for: Model , </a:t>
            </a:r>
            <a:r>
              <a:rPr lang="en-US" dirty="0" err="1"/>
              <a:t>Colour</a:t>
            </a:r>
            <a:r>
              <a:rPr lang="en-US" dirty="0"/>
              <a:t>  ,Processor</a:t>
            </a:r>
          </a:p>
          <a:p>
            <a:endParaRPr lang="en-US" dirty="0"/>
          </a:p>
          <a:p>
            <a:r>
              <a:rPr lang="en-IN" dirty="0"/>
              <a:t>Final Dataset : </a:t>
            </a:r>
          </a:p>
          <a:p>
            <a:r>
              <a:rPr lang="en-US" dirty="0"/>
              <a:t>Rows = 531</a:t>
            </a:r>
            <a:br>
              <a:rPr lang="en-US" dirty="0"/>
            </a:br>
            <a:r>
              <a:rPr lang="en-US" dirty="0"/>
              <a:t>Columns after Encoding = 590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0890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AD48A-A8E5-2C30-251F-7802F9350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5135" y="126804"/>
            <a:ext cx="10092907" cy="691343"/>
          </a:xfrm>
        </p:spPr>
        <p:txBody>
          <a:bodyPr>
            <a:normAutofit/>
          </a:bodyPr>
          <a:lstStyle/>
          <a:p>
            <a:r>
              <a:rPr lang="en-IN" b="1" u="sng" dirty="0"/>
              <a:t>Exploratory Data Analysis 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F4557-37BA-44F4-3575-C8816B28E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811" y="818147"/>
            <a:ext cx="10814801" cy="5093075"/>
          </a:xfrm>
        </p:spPr>
        <p:txBody>
          <a:bodyPr>
            <a:normAutofit/>
          </a:bodyPr>
          <a:lstStyle/>
          <a:p>
            <a:r>
              <a:rPr lang="en-US" b="1" dirty="0"/>
              <a:t>Univariate Analysis is Performed</a:t>
            </a:r>
            <a:endParaRPr lang="en-US" dirty="0"/>
          </a:p>
          <a:p>
            <a:r>
              <a:rPr lang="en-US" dirty="0"/>
              <a:t>Price Distribution </a:t>
            </a:r>
          </a:p>
          <a:p>
            <a:r>
              <a:rPr lang="en-US" dirty="0"/>
              <a:t>RAM Distribution </a:t>
            </a:r>
          </a:p>
          <a:p>
            <a:r>
              <a:rPr lang="en-US" dirty="0"/>
              <a:t>Memory Distribution </a:t>
            </a:r>
          </a:p>
          <a:p>
            <a:r>
              <a:rPr lang="en-US" dirty="0"/>
              <a:t>Processor Distribution</a:t>
            </a:r>
          </a:p>
          <a:p>
            <a:endParaRPr lang="en-IN" dirty="0"/>
          </a:p>
          <a:p>
            <a:r>
              <a:rPr lang="en-US" b="1" dirty="0"/>
              <a:t>Key Findings</a:t>
            </a:r>
          </a:p>
          <a:p>
            <a:r>
              <a:rPr lang="en-US" b="1" dirty="0"/>
              <a:t>RAM:  </a:t>
            </a:r>
            <a:r>
              <a:rPr lang="en-US" dirty="0"/>
              <a:t>Most phones have 4 GB ,6 GB 8 GB RAM </a:t>
            </a:r>
          </a:p>
          <a:p>
            <a:r>
              <a:rPr lang="en-US" b="1" dirty="0"/>
              <a:t>Memory :</a:t>
            </a:r>
            <a:r>
              <a:rPr lang="en-US" dirty="0"/>
              <a:t>Most phones have 64 GB ,128 GB ,256 GB Memory.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2541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D4B2C-ACAA-D5D2-3B99-3F72E138E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611" y="624110"/>
            <a:ext cx="10510001" cy="755511"/>
          </a:xfrm>
        </p:spPr>
        <p:txBody>
          <a:bodyPr/>
          <a:lstStyle/>
          <a:p>
            <a:r>
              <a:rPr lang="en-IN" b="1" u="sng" dirty="0"/>
              <a:t>Price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7E09A-26CF-8605-6F28-C31C3C0F4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179" y="1828800"/>
            <a:ext cx="11055433" cy="4082422"/>
          </a:xfrm>
        </p:spPr>
        <p:txBody>
          <a:bodyPr/>
          <a:lstStyle/>
          <a:p>
            <a:r>
              <a:rPr lang="en-US" dirty="0"/>
              <a:t>Right-skewed distribution.</a:t>
            </a:r>
          </a:p>
          <a:p>
            <a:r>
              <a:rPr lang="en-US" dirty="0"/>
              <a:t>Premium phones act as outliers</a:t>
            </a:r>
          </a:p>
          <a:p>
            <a:endParaRPr lang="en-US" dirty="0"/>
          </a:p>
          <a:p>
            <a:r>
              <a:rPr lang="en-US" dirty="0"/>
              <a:t>.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BDB35EA-1887-DD73-A437-9E935ADD8F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1785858"/>
              </p:ext>
            </p:extLst>
          </p:nvPr>
        </p:nvGraphicFramePr>
        <p:xfrm>
          <a:off x="5293893" y="1379621"/>
          <a:ext cx="6769771" cy="4660382"/>
        </p:xfrm>
        <a:graphic>
          <a:graphicData uri="http://schemas.openxmlformats.org/drawingml/2006/table">
            <a:tbl>
              <a:tblPr/>
              <a:tblGrid>
                <a:gridCol w="738137">
                  <a:extLst>
                    <a:ext uri="{9D8B030D-6E8A-4147-A177-3AD203B41FA5}">
                      <a16:colId xmlns:a16="http://schemas.microsoft.com/office/drawing/2014/main" val="2179143996"/>
                    </a:ext>
                  </a:extLst>
                </a:gridCol>
                <a:gridCol w="738137">
                  <a:extLst>
                    <a:ext uri="{9D8B030D-6E8A-4147-A177-3AD203B41FA5}">
                      <a16:colId xmlns:a16="http://schemas.microsoft.com/office/drawing/2014/main" val="3076220697"/>
                    </a:ext>
                  </a:extLst>
                </a:gridCol>
                <a:gridCol w="738137">
                  <a:extLst>
                    <a:ext uri="{9D8B030D-6E8A-4147-A177-3AD203B41FA5}">
                      <a16:colId xmlns:a16="http://schemas.microsoft.com/office/drawing/2014/main" val="721258380"/>
                    </a:ext>
                  </a:extLst>
                </a:gridCol>
                <a:gridCol w="738137">
                  <a:extLst>
                    <a:ext uri="{9D8B030D-6E8A-4147-A177-3AD203B41FA5}">
                      <a16:colId xmlns:a16="http://schemas.microsoft.com/office/drawing/2014/main" val="945531621"/>
                    </a:ext>
                  </a:extLst>
                </a:gridCol>
                <a:gridCol w="738137">
                  <a:extLst>
                    <a:ext uri="{9D8B030D-6E8A-4147-A177-3AD203B41FA5}">
                      <a16:colId xmlns:a16="http://schemas.microsoft.com/office/drawing/2014/main" val="2394876490"/>
                    </a:ext>
                  </a:extLst>
                </a:gridCol>
                <a:gridCol w="738137">
                  <a:extLst>
                    <a:ext uri="{9D8B030D-6E8A-4147-A177-3AD203B41FA5}">
                      <a16:colId xmlns:a16="http://schemas.microsoft.com/office/drawing/2014/main" val="3474461702"/>
                    </a:ext>
                  </a:extLst>
                </a:gridCol>
                <a:gridCol w="738137">
                  <a:extLst>
                    <a:ext uri="{9D8B030D-6E8A-4147-A177-3AD203B41FA5}">
                      <a16:colId xmlns:a16="http://schemas.microsoft.com/office/drawing/2014/main" val="3833739574"/>
                    </a:ext>
                  </a:extLst>
                </a:gridCol>
                <a:gridCol w="738137">
                  <a:extLst>
                    <a:ext uri="{9D8B030D-6E8A-4147-A177-3AD203B41FA5}">
                      <a16:colId xmlns:a16="http://schemas.microsoft.com/office/drawing/2014/main" val="3070244863"/>
                    </a:ext>
                  </a:extLst>
                </a:gridCol>
                <a:gridCol w="864675">
                  <a:extLst>
                    <a:ext uri="{9D8B030D-6E8A-4147-A177-3AD203B41FA5}">
                      <a16:colId xmlns:a16="http://schemas.microsoft.com/office/drawing/2014/main" val="2202321729"/>
                    </a:ext>
                  </a:extLst>
                </a:gridCol>
              </a:tblGrid>
              <a:tr h="71075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200">
                          <a:effectLst/>
                        </a:rPr>
                        <a:t>Memory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200">
                          <a:effectLst/>
                        </a:rPr>
                        <a:t>RAM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200">
                          <a:effectLst/>
                        </a:rPr>
                        <a:t>Battery_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200">
                          <a:effectLst/>
                        </a:rPr>
                        <a:t>Rear Camera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200">
                          <a:effectLst/>
                        </a:rPr>
                        <a:t>Front Camera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200">
                          <a:effectLst/>
                        </a:rPr>
                        <a:t>AI Lens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200" dirty="0">
                          <a:effectLst/>
                        </a:rPr>
                        <a:t>Mobile Height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200" dirty="0">
                          <a:effectLst/>
                        </a:rPr>
                        <a:t>Price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 marL="60251" marR="60251" marT="30126" marB="30126">
                    <a:lnL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587348972"/>
                  </a:ext>
                </a:extLst>
              </a:tr>
              <a:tr h="49370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200" b="0">
                          <a:effectLst/>
                        </a:rPr>
                        <a:t>count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531.000000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531.000000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531.000000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531.000000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531.000000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531.000000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531.000000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531.000000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1761828"/>
                  </a:ext>
                </a:extLst>
              </a:tr>
              <a:tr h="49370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200" b="0">
                          <a:effectLst/>
                        </a:rPr>
                        <a:t>mean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110.915254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5.401130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4873.877589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46.227872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12.045198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0.064030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16.450019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16305.775895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3985420"/>
                  </a:ext>
                </a:extLst>
              </a:tr>
              <a:tr h="49370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200" b="0">
                          <a:effectLst/>
                        </a:rPr>
                        <a:t>std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60.872883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1.991283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765.883129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31.392146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9.105142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0.245037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2.494246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10847.038354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8110157"/>
                  </a:ext>
                </a:extLst>
              </a:tr>
              <a:tr h="49370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200" b="0">
                          <a:effectLst/>
                        </a:rPr>
                        <a:t>min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16.000000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2.000000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800.000000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0.000000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0.000000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0.000000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4.500000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920.000000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6346276"/>
                  </a:ext>
                </a:extLst>
              </a:tr>
              <a:tr h="49370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200" b="0">
                          <a:effectLst/>
                        </a:rPr>
                        <a:t>25%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64.000000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4.000000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5000.000000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13.000000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5.000000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0.000000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16.510000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9368.000000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3250926"/>
                  </a:ext>
                </a:extLst>
              </a:tr>
              <a:tr h="49370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200" b="0">
                          <a:effectLst/>
                        </a:rPr>
                        <a:t>50%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128.000000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6.000000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5000.000000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50.000000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8.000000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0.000000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16.710000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13999.000000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7895027"/>
                  </a:ext>
                </a:extLst>
              </a:tr>
              <a:tr h="49370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200" b="0">
                          <a:effectLst/>
                        </a:rPr>
                        <a:t>75%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128.000000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8.000000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5000.000000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50.000000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16.000000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0.000000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16.940000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19338.500000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8702310"/>
                  </a:ext>
                </a:extLst>
              </a:tr>
              <a:tr h="49370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200" b="0">
                          <a:effectLst/>
                        </a:rPr>
                        <a:t>max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256.000000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8.000000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7000.000000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200.000000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60.000000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1.000000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41.940000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effectLst/>
                        </a:rPr>
                        <a:t>80999.000000</a:t>
                      </a:r>
                    </a:p>
                  </a:txBody>
                  <a:tcPr marL="50209" marR="50209" marT="25105" marB="25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8973520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C348D83-9AB8-1115-496C-DAD572DAE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45" y="2967496"/>
            <a:ext cx="4714848" cy="2943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887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BD5F4-3FCB-0E8E-6493-E401DEF23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4821" y="624110"/>
            <a:ext cx="10429791" cy="867806"/>
          </a:xfrm>
        </p:spPr>
        <p:txBody>
          <a:bodyPr/>
          <a:lstStyle/>
          <a:p>
            <a:r>
              <a:rPr lang="en-IN" b="1" u="sng" dirty="0"/>
              <a:t>Bivariate &amp; Multivariate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7D3CB-DCF9-A51F-687C-110E479A4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0442" y="1219200"/>
            <a:ext cx="10574170" cy="4692022"/>
          </a:xfrm>
        </p:spPr>
        <p:txBody>
          <a:bodyPr/>
          <a:lstStyle/>
          <a:p>
            <a:r>
              <a:rPr lang="en-US" b="1" u="sng" dirty="0"/>
              <a:t>Strongest relationship with price</a:t>
            </a:r>
            <a:r>
              <a:rPr lang="en-US" b="1" dirty="0"/>
              <a:t>:</a:t>
            </a:r>
          </a:p>
          <a:p>
            <a:pPr marL="0" indent="0">
              <a:buNone/>
            </a:pPr>
            <a:r>
              <a:rPr lang="en-US" dirty="0"/>
              <a:t>Processor vs Price (clear separation of price ranges by processor type).</a:t>
            </a:r>
          </a:p>
          <a:p>
            <a:pPr marL="0" indent="0">
              <a:buNone/>
            </a:pPr>
            <a:r>
              <a:rPr lang="en-US" dirty="0"/>
              <a:t>Secondary strong predictor: RAM vs Price.</a:t>
            </a:r>
          </a:p>
          <a:p>
            <a:pPr marL="0" indent="0">
              <a:buNone/>
            </a:pPr>
            <a:r>
              <a:rPr lang="en-US" b="1" u="sng" dirty="0"/>
              <a:t>Weakest relationship with price:</a:t>
            </a:r>
          </a:p>
          <a:p>
            <a:pPr marL="0" indent="0">
              <a:buNone/>
            </a:pPr>
            <a:r>
              <a:rPr lang="en-US" dirty="0"/>
              <a:t>Front Camera vs Price (scatter shows little predictive power).</a:t>
            </a:r>
          </a:p>
          <a:p>
            <a:pPr marL="0" indent="0">
              <a:buNone/>
            </a:pPr>
            <a:r>
              <a:rPr lang="en-US" dirty="0"/>
              <a:t>Battery also shows weak influence compared to RAM/Processor.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23FA11F-F627-F129-46F3-7082601668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946425"/>
              </p:ext>
            </p:extLst>
          </p:nvPr>
        </p:nvGraphicFramePr>
        <p:xfrm>
          <a:off x="8983579" y="1219200"/>
          <a:ext cx="3419392" cy="3474720"/>
        </p:xfrm>
        <a:graphic>
          <a:graphicData uri="http://schemas.openxmlformats.org/drawingml/2006/table">
            <a:tbl>
              <a:tblPr/>
              <a:tblGrid>
                <a:gridCol w="1709696">
                  <a:extLst>
                    <a:ext uri="{9D8B030D-6E8A-4147-A177-3AD203B41FA5}">
                      <a16:colId xmlns:a16="http://schemas.microsoft.com/office/drawing/2014/main" val="2331211553"/>
                    </a:ext>
                  </a:extLst>
                </a:gridCol>
                <a:gridCol w="1709696">
                  <a:extLst>
                    <a:ext uri="{9D8B030D-6E8A-4147-A177-3AD203B41FA5}">
                      <a16:colId xmlns:a16="http://schemas.microsoft.com/office/drawing/2014/main" val="33786713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Correlation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6630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Memory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0.563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4451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0.529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229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Front Camera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0.529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5606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Rear Camera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0.407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5871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Mobile Height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0.168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38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Battery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-0.046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477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AI Lens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-0.156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9107697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7BCA318B-0C22-9006-2548-26A0B993D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632" y="4029935"/>
            <a:ext cx="3737810" cy="246391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C90E150-67BE-D797-1AB7-03039EBC0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442" y="3862417"/>
            <a:ext cx="3737809" cy="279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936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B16B3-5456-486F-2A15-2D2BF91B6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695" y="624110"/>
            <a:ext cx="10477917" cy="899890"/>
          </a:xfrm>
        </p:spPr>
        <p:txBody>
          <a:bodyPr/>
          <a:lstStyle/>
          <a:p>
            <a:r>
              <a:rPr lang="en-IN" b="1" u="sng" dirty="0"/>
              <a:t>Machine Learning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46041-60A5-B654-8DAE-6D4E6E77D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811" y="1652337"/>
            <a:ext cx="10814801" cy="42588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Models Developed</a:t>
            </a:r>
          </a:p>
          <a:p>
            <a:r>
              <a:rPr lang="en-US" dirty="0"/>
              <a:t>Linear Regression </a:t>
            </a:r>
          </a:p>
          <a:p>
            <a:r>
              <a:rPr lang="en-US" dirty="0"/>
              <a:t>Decision Tree Regressor </a:t>
            </a:r>
          </a:p>
          <a:p>
            <a:r>
              <a:rPr lang="en-US" dirty="0"/>
              <a:t>Random Forest Regressor </a:t>
            </a:r>
          </a:p>
          <a:p>
            <a:r>
              <a:rPr lang="en-US" dirty="0" err="1"/>
              <a:t>XGBoost</a:t>
            </a:r>
            <a:r>
              <a:rPr lang="en-US" dirty="0"/>
              <a:t> Regressor</a:t>
            </a:r>
          </a:p>
          <a:p>
            <a:endParaRPr lang="en-US" dirty="0"/>
          </a:p>
          <a:p>
            <a:r>
              <a:rPr lang="en-IN" dirty="0"/>
              <a:t>Train Test Split  : </a:t>
            </a:r>
            <a:r>
              <a:rPr lang="en-US" dirty="0"/>
              <a:t>Training Data = 424 Rows and Testing Data = 107 Rows</a:t>
            </a:r>
          </a:p>
          <a:p>
            <a:r>
              <a:rPr lang="en-IN" b="1" dirty="0"/>
              <a:t>Evaluation Metrics : </a:t>
            </a:r>
            <a:r>
              <a:rPr lang="en-IN" dirty="0"/>
              <a:t>MAE ,RMSE ,R² Score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407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F4CA5-7D94-3598-F3D2-857BCECDC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3A940-6591-93A8-C178-B79B857C0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1727" y="172440"/>
            <a:ext cx="10205201" cy="1280890"/>
          </a:xfrm>
        </p:spPr>
        <p:txBody>
          <a:bodyPr/>
          <a:lstStyle/>
          <a:p>
            <a:r>
              <a:rPr lang="en-IN" b="1" u="sng" dirty="0"/>
              <a:t>Model Performance 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018CC08-25FF-2C7E-F050-2B66B3E0D3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1574545"/>
              </p:ext>
            </p:extLst>
          </p:nvPr>
        </p:nvGraphicFramePr>
        <p:xfrm>
          <a:off x="5646822" y="1453330"/>
          <a:ext cx="6469813" cy="4370020"/>
        </p:xfrm>
        <a:graphic>
          <a:graphicData uri="http://schemas.openxmlformats.org/drawingml/2006/table">
            <a:tbl>
              <a:tblPr/>
              <a:tblGrid>
                <a:gridCol w="1176445">
                  <a:extLst>
                    <a:ext uri="{9D8B030D-6E8A-4147-A177-3AD203B41FA5}">
                      <a16:colId xmlns:a16="http://schemas.microsoft.com/office/drawing/2014/main" val="856590245"/>
                    </a:ext>
                  </a:extLst>
                </a:gridCol>
                <a:gridCol w="1764456">
                  <a:extLst>
                    <a:ext uri="{9D8B030D-6E8A-4147-A177-3AD203B41FA5}">
                      <a16:colId xmlns:a16="http://schemas.microsoft.com/office/drawing/2014/main" val="358276273"/>
                    </a:ext>
                  </a:extLst>
                </a:gridCol>
                <a:gridCol w="1764456">
                  <a:extLst>
                    <a:ext uri="{9D8B030D-6E8A-4147-A177-3AD203B41FA5}">
                      <a16:colId xmlns:a16="http://schemas.microsoft.com/office/drawing/2014/main" val="1932608654"/>
                    </a:ext>
                  </a:extLst>
                </a:gridCol>
                <a:gridCol w="1764456">
                  <a:extLst>
                    <a:ext uri="{9D8B030D-6E8A-4147-A177-3AD203B41FA5}">
                      <a16:colId xmlns:a16="http://schemas.microsoft.com/office/drawing/2014/main" val="2458140906"/>
                    </a:ext>
                  </a:extLst>
                </a:gridCol>
              </a:tblGrid>
              <a:tr h="6305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sng" dirty="0"/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sng" dirty="0"/>
                        <a:t>MAE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sng" dirty="0"/>
                        <a:t>RMSE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sng" dirty="0"/>
                        <a:t>R²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7701914"/>
                  </a:ext>
                </a:extLst>
              </a:tr>
              <a:tr h="7201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Linear Regression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2559.52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6714.24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0.572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9879900"/>
                  </a:ext>
                </a:extLst>
              </a:tr>
              <a:tr h="6305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Decision Tree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1614.48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5017.55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0.761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2228622"/>
                  </a:ext>
                </a:extLst>
              </a:tr>
              <a:tr h="6305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Random Forest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2073.05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4829.45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0.779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575556"/>
                  </a:ext>
                </a:extLst>
              </a:tr>
              <a:tr h="6305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XGBoost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⭐1573.85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⭐4133.04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⭐0.838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7460320"/>
                  </a:ext>
                </a:extLst>
              </a:tr>
              <a:tr h="7201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Optimized XGBoost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1860.93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4430.49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0.814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3744501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6464EBA5-7E43-E222-6638-DEDA769EA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536702"/>
            <a:ext cx="5002714" cy="4928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0882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90B95-42ED-1619-A85F-A0BAF737E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76189-32E0-E66B-9947-0A4C3BA03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5453" y="287226"/>
            <a:ext cx="10189159" cy="964058"/>
          </a:xfrm>
        </p:spPr>
        <p:txBody>
          <a:bodyPr>
            <a:normAutofit fontScale="90000"/>
          </a:bodyPr>
          <a:lstStyle/>
          <a:p>
            <a:r>
              <a:rPr lang="en-IN" b="1" u="sng" dirty="0"/>
              <a:t>Hyperparameter Tuning &amp; Feature Importance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5034E-7CB1-AA5B-DD71-DDBA8A613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388" y="1251284"/>
            <a:ext cx="10814801" cy="4659938"/>
          </a:xfrm>
        </p:spPr>
        <p:txBody>
          <a:bodyPr/>
          <a:lstStyle/>
          <a:p>
            <a:r>
              <a:rPr lang="en-IN" dirty="0" err="1"/>
              <a:t>GridSearchCV</a:t>
            </a:r>
            <a:endParaRPr lang="en-IN" dirty="0"/>
          </a:p>
          <a:p>
            <a:r>
              <a:rPr lang="en-IN" b="1" dirty="0"/>
              <a:t>Best Parameters : </a:t>
            </a:r>
          </a:p>
          <a:p>
            <a:pPr marL="0" indent="0">
              <a:buNone/>
            </a:pPr>
            <a:r>
              <a:rPr lang="en-US" dirty="0"/>
              <a:t>Learning Rate = 0.1</a:t>
            </a:r>
          </a:p>
          <a:p>
            <a:pPr marL="0" indent="0">
              <a:buNone/>
            </a:pPr>
            <a:r>
              <a:rPr lang="en-US" dirty="0"/>
              <a:t>Max Depth = 3</a:t>
            </a:r>
          </a:p>
          <a:p>
            <a:pPr marL="0" indent="0">
              <a:buNone/>
            </a:pPr>
            <a:r>
              <a:rPr lang="en-US" dirty="0"/>
              <a:t>Estimators = 300</a:t>
            </a:r>
          </a:p>
          <a:p>
            <a:pPr marL="0" indent="0">
              <a:buNone/>
            </a:pPr>
            <a:r>
              <a:rPr lang="en-US" dirty="0"/>
              <a:t>Subsample = 0.8</a:t>
            </a:r>
          </a:p>
          <a:p>
            <a:pPr marL="0" indent="0">
              <a:buNone/>
            </a:pPr>
            <a:r>
              <a:rPr lang="en-US" dirty="0"/>
              <a:t>Best Cross validation score : </a:t>
            </a:r>
            <a:r>
              <a:rPr lang="en-IN" dirty="0"/>
              <a:t>88.55%</a:t>
            </a:r>
          </a:p>
        </p:txBody>
      </p:sp>
    </p:spTree>
    <p:extLst>
      <p:ext uri="{BB962C8B-B14F-4D97-AF65-F5344CB8AC3E}">
        <p14:creationId xmlns:p14="http://schemas.microsoft.com/office/powerpoint/2010/main" val="304041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28E3E-2929-99D5-6E99-F15890E55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Important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5B441-D67D-AEB1-F79A-C59CBE696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0653" y="1732547"/>
            <a:ext cx="10493959" cy="4178675"/>
          </a:xfrm>
        </p:spPr>
        <p:txBody>
          <a:bodyPr/>
          <a:lstStyle/>
          <a:p>
            <a:r>
              <a:rPr lang="en-US" b="1" dirty="0"/>
              <a:t>Top Important Features</a:t>
            </a:r>
          </a:p>
          <a:p>
            <a:r>
              <a:rPr lang="en-US" dirty="0"/>
              <a:t>Processor : Processor type strongly influences premium pricing</a:t>
            </a:r>
          </a:p>
          <a:p>
            <a:endParaRPr lang="en-US" dirty="0"/>
          </a:p>
          <a:p>
            <a:r>
              <a:rPr lang="en-US" dirty="0"/>
              <a:t>RAM : RAM significantly increases mobile price.</a:t>
            </a:r>
          </a:p>
          <a:p>
            <a:endParaRPr lang="en-US" dirty="0"/>
          </a:p>
          <a:p>
            <a:r>
              <a:rPr lang="en-US" dirty="0"/>
              <a:t>Memory  : Memory is one of the strongest drivers of price.</a:t>
            </a:r>
          </a:p>
          <a:p>
            <a:endParaRPr lang="en-US" dirty="0"/>
          </a:p>
          <a:p>
            <a:r>
              <a:rPr lang="en-US" dirty="0"/>
              <a:t>Front Camera : Camera specifications contribute positively to price.</a:t>
            </a:r>
          </a:p>
          <a:p>
            <a:endParaRPr lang="en-US" dirty="0"/>
          </a:p>
          <a:p>
            <a:r>
              <a:rPr lang="en-US" dirty="0"/>
              <a:t>Battery : Battery capacity alone has little impact on pricing decisions.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40791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02523-037E-C720-73FC-A805D912B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0465" y="306333"/>
            <a:ext cx="10333538" cy="1280890"/>
          </a:xfrm>
        </p:spPr>
        <p:txBody>
          <a:bodyPr/>
          <a:lstStyle/>
          <a:p>
            <a:r>
              <a:rPr lang="en-IN" b="1" u="sng" dirty="0"/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07478-52E1-72E5-5302-106F34E60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853" y="1587223"/>
            <a:ext cx="10798759" cy="4323999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Recommendation 1 </a:t>
            </a:r>
            <a:r>
              <a:rPr lang="en-US" dirty="0"/>
              <a:t>: Focus on launching devices with higher RAM and Memory configurations because these features strongly influence price.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r>
              <a:rPr lang="en-US" b="1" dirty="0"/>
              <a:t>Recommendation 2 </a:t>
            </a:r>
            <a:r>
              <a:rPr lang="en-US" dirty="0"/>
              <a:t>: Premium processors can justify higher pricing strategies.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r>
              <a:rPr lang="en-US" b="1" dirty="0"/>
              <a:t>Recommendation 3 </a:t>
            </a:r>
            <a:r>
              <a:rPr lang="en-US" dirty="0"/>
              <a:t>: Camera specifications positively affect pricing and customer perception.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r>
              <a:rPr lang="en-US" b="1" dirty="0"/>
              <a:t>Recommendation 4 </a:t>
            </a:r>
            <a:r>
              <a:rPr lang="en-US" dirty="0"/>
              <a:t>: Battery capacity alone should not be considered a premium pricing factor.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r>
              <a:rPr lang="en-US" b="1" dirty="0"/>
              <a:t>Recommendation 5 </a:t>
            </a:r>
            <a:r>
              <a:rPr lang="en-US" dirty="0"/>
              <a:t>: Use the </a:t>
            </a:r>
            <a:r>
              <a:rPr lang="en-US" dirty="0" err="1"/>
              <a:t>XGBoost</a:t>
            </a:r>
            <a:r>
              <a:rPr lang="en-US" dirty="0"/>
              <a:t> model to estimate prices of upcoming mobile devices before launch.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40037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F3DFB-D83F-57AD-D585-10DD84453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7832" y="624110"/>
            <a:ext cx="6996780" cy="1280890"/>
          </a:xfrm>
        </p:spPr>
        <p:txBody>
          <a:bodyPr/>
          <a:lstStyle/>
          <a:p>
            <a:r>
              <a:rPr lang="en-US" u="sng" dirty="0"/>
              <a:t>Conclusion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9F0C6-710A-5B9C-D2DB-B6FCDEA27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4821" y="1475875"/>
            <a:ext cx="10429791" cy="5117430"/>
          </a:xfrm>
        </p:spPr>
        <p:txBody>
          <a:bodyPr>
            <a:normAutofit fontScale="92500" lnSpcReduction="10000"/>
          </a:bodyPr>
          <a:lstStyle/>
          <a:p>
            <a:r>
              <a:rPr lang="en-US" b="1" u="sng" dirty="0"/>
              <a:t>Project Summary</a:t>
            </a:r>
          </a:p>
          <a:p>
            <a:pPr marL="0" indent="0">
              <a:buNone/>
            </a:pPr>
            <a:r>
              <a:rPr lang="en-US" dirty="0"/>
              <a:t>✅ Performed Feature Extraction.</a:t>
            </a:r>
          </a:p>
          <a:p>
            <a:pPr marL="0" indent="0">
              <a:buNone/>
            </a:pPr>
            <a:r>
              <a:rPr lang="en-US" dirty="0"/>
              <a:t>✅ Conducted EDA and Correlation Analysis.</a:t>
            </a:r>
          </a:p>
          <a:p>
            <a:pPr marL="0" indent="0">
              <a:buNone/>
            </a:pPr>
            <a:r>
              <a:rPr lang="en-US" dirty="0"/>
              <a:t>✅ Built four machine learning models.</a:t>
            </a:r>
          </a:p>
          <a:p>
            <a:pPr marL="0" indent="0">
              <a:buNone/>
            </a:pPr>
            <a:r>
              <a:rPr lang="en-US" dirty="0"/>
              <a:t>✅ Compared model performances.</a:t>
            </a:r>
          </a:p>
          <a:p>
            <a:pPr marL="0" indent="0">
              <a:buNone/>
            </a:pPr>
            <a:r>
              <a:rPr lang="en-US" dirty="0"/>
              <a:t>✅ Identified key pricing drivers.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u="sng" dirty="0"/>
              <a:t>Final Conclusion </a:t>
            </a:r>
            <a:r>
              <a:rPr lang="en-US" b="1" dirty="0"/>
              <a:t>: </a:t>
            </a:r>
            <a:r>
              <a:rPr lang="en-US" dirty="0"/>
              <a:t>The </a:t>
            </a:r>
            <a:r>
              <a:rPr lang="en-US" b="1" dirty="0" err="1"/>
              <a:t>XGBoost</a:t>
            </a:r>
            <a:r>
              <a:rPr lang="en-US" b="1" dirty="0"/>
              <a:t> Regressor</a:t>
            </a:r>
            <a:r>
              <a:rPr lang="en-US" dirty="0"/>
              <a:t> achieved the best performance:</a:t>
            </a:r>
          </a:p>
          <a:p>
            <a:r>
              <a:rPr lang="en-US" dirty="0"/>
              <a:t>MAE  = 1573.85</a:t>
            </a:r>
            <a:br>
              <a:rPr lang="en-US" dirty="0"/>
            </a:br>
            <a:r>
              <a:rPr lang="en-US" dirty="0"/>
              <a:t>RMSE = 4133.04</a:t>
            </a:r>
            <a:br>
              <a:rPr lang="en-US" dirty="0"/>
            </a:br>
            <a:r>
              <a:rPr lang="en-US" dirty="0"/>
              <a:t>R²   = 83.80%</a:t>
            </a:r>
          </a:p>
          <a:p>
            <a:r>
              <a:rPr lang="en-US" dirty="0"/>
              <a:t>The most influential factors affecting mobile prices are:</a:t>
            </a:r>
          </a:p>
          <a:p>
            <a:r>
              <a:rPr lang="en-US" dirty="0"/>
              <a:t>Processor ,RAM ,Memory ,Camera Specifications ,Battery  </a:t>
            </a:r>
          </a:p>
          <a:p>
            <a:r>
              <a:rPr lang="en-US" dirty="0"/>
              <a:t>The developed model can help organizations make better pricing decisions and predict prices of new mobile devices.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819226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4563</TotalTime>
  <Words>773</Words>
  <Application>Microsoft Office PowerPoint</Application>
  <PresentationFormat>Widescreen</PresentationFormat>
  <Paragraphs>256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Wingdings 3</vt:lpstr>
      <vt:lpstr>Wisp</vt:lpstr>
      <vt:lpstr>Feature Extraction and Price Prediction for Mobile Phones</vt:lpstr>
      <vt:lpstr>Project Objective: To identify the key features affecting mobile phone prices and build a machine learning model that accurately predicts mobile phone prices.</vt:lpstr>
      <vt:lpstr>Project Objectives </vt:lpstr>
      <vt:lpstr>Dataset Description</vt:lpstr>
      <vt:lpstr>Data Cleaning &amp; Preprocessing</vt:lpstr>
      <vt:lpstr>Exploratory Data Analysis (EDA)</vt:lpstr>
      <vt:lpstr>Price Distribution</vt:lpstr>
      <vt:lpstr>Bivariate &amp; Multivariate Analysis</vt:lpstr>
      <vt:lpstr>Machine Learning Models</vt:lpstr>
      <vt:lpstr>Model Performance Comparison</vt:lpstr>
      <vt:lpstr>Hyperparameter Tuning &amp; Feature Importance</vt:lpstr>
      <vt:lpstr>Important Features</vt:lpstr>
      <vt:lpstr>Business Recommendations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satish vonteddu</dc:creator>
  <cp:lastModifiedBy>satish vonteddu</cp:lastModifiedBy>
  <cp:revision>1</cp:revision>
  <dcterms:created xsi:type="dcterms:W3CDTF">2026-07-02T10:15:02Z</dcterms:created>
  <dcterms:modified xsi:type="dcterms:W3CDTF">2026-07-05T14:18:04Z</dcterms:modified>
</cp:coreProperties>
</file>